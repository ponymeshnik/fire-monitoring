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7"/>
    <p:sldId id="258" r:id="rId6"/>
    <p:sldId id="259" r:id="rId5"/>
    <p:sldId id="260" r:id="rId4"/>
    <p:sldId id="261" r:id="rId3"/>
    <p:sldId id="262" r:id="rId25"/>
    <p:sldId id="263" r:id="rId26"/>
    <p:sldId id="264" r:id="rId27"/>
    <p:sldId id="265" r:id="rId28"/>
    <p:sldId id="266" r:id="rId29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Quattrocento Sans" panose="020B0502050000020003" pitchFamily="34" charset="0"/>
      <p:regular r:id="rId13"/>
      <p:bold r:id="rId14"/>
      <p:italic r:id="rId15"/>
      <p:boldItalic r:id="rId16"/>
    </p:embeddedFont>
    <p:embeddedFont>
      <p:font typeface="Raleway" pitchFamily="2" charset="-52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«Добрый день, уважаемые члены экспертной комиссии! Команда CodeDown представляет научно-инженерное решение по двухэтапному спутниковому мониторингу природных пожаров.</a:t>
            </a:r>
          </a:p>
          <a:p>
            <a:r>
              <a:t>Перед нами стояла задача построить масштабируемую систему для площади 435 тысяч квадратных километров в специфических аридных условиях Нижнего Поволжья и Подонья. Наш комплекс решает задачу в двух временных масштабах: оперативная субпиксельная детекция очагов горения по сенсору VIIRS и послепожарное картирование гарей с дифференциацией трех степеней повреждения по спутникам Sentinel-2 и Sentinel-1.</a:t>
            </a:r>
          </a:p>
          <a:p>
            <a:r>
              <a:t>В результате глубокого анализа предметной области и физической калибровки нам удалось поднять официальную композитную метрику на закрытом тестовом лидерборде с 0.3331 до 0.5416 — это прирост более 62%, обеспечив при этом время инференса всего 14.2 секунды при жестком нормативе в 30 секунд. Перейдем к специфике территории».</a:t>
            </a: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«Главный вызов нашего региона — физическая специфика ландшафта. Во-первых, это высочайшая термическая нагрузка: летний полуденный прогрев песчаной почвы до 55 градусов Цельсия вызывает в базовом алгоритме катастрофический взрыв — до 37 тысяч ложных пикселей огня на один чип!</a:t>
            </a:r>
          </a:p>
          <a:p>
            <a:r>
              <a:t>Во-вторых, классическая мировая шкала dNBR от Геологической службы США создана для высокоствольных лесов с фитомассой в сотни тонн на гектар. В сухих ковыльных степях и полупустынях биомасса в 10–20 раз ниже. Даже когда степь выгорает полностью до золы, абсолютный перепад dNBR физически не может достичь лесных значений. Если применять фиксированный порог, модель организаторов теряет более 80% сильных гарей!</a:t>
            </a:r>
          </a:p>
          <a:p>
            <a:r>
              <a:t>В-третьих, аграрные пашни при уборке урожая и вспашке спектрально мимикрируют под гарь, а светлые солончаки Калмыкии стандартный алгоритм SCL ошибочно помечает как облака. Для решения этих проблем мы построили сквозной конвейер».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«При глубоком исследовательском анализе обучающей выборки мы выявили пять фундаментальных эффектов, определивших архитектуру решения.</a:t>
            </a:r>
          </a:p>
          <a:p>
            <a:r>
              <a:t>В модуле AF доля целевых пикселей составляет лишь тридцать пять тысячных процента. Стандартные глобальные пороги приводили к ложным тревогам от раскаленного песка и газовых факелов. Мы ввели скользящее контекстное окно 21 на 21 пиксель, оценивающее локальный радиационный фон подстилающей поверхности.</a:t>
            </a:r>
          </a:p>
          <a:p>
            <a:r>
              <a:t>В модуле BS мы обнаружили, что убранные пшеничные поля имеют высокий dNBR, но на них нет сажи — их NBR_post выше 0.15, в то время как свежая гарь полностью поглощает свет. Кроме того, перекалибровка порогов под травянистые степи и очистка теней облаков по слою SCL устранили системные искажения эталонной разметки».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«Архитектура решения объединяет разнородные спутниковые потоки в единый прозрачный конвейер.</a:t>
            </a:r>
          </a:p>
          <a:p>
            <a:r>
              <a:t>Модуль активного горения работает на сетке 375 метров, мгновенно нормализуя радиометрические каналы VIIRS и выделяя тепловые аномалии.</a:t>
            </a:r>
          </a:p>
          <a:p>
            <a:r>
              <a:t>Модуль оценки гарей на сетке 20 метров обрабатывает временные пары Sentinel-2, радиометрический слой классификации сцены SCL и радиолокацию Sentinel-1, применяя разработанный нами фильтр поглощения золы и степную шкалу тяжести.</a:t>
            </a:r>
          </a:p>
          <a:p>
            <a:r>
              <a:t>Оба модуля генерируют строго верифицированный submission.csv на 447 строк, а также интегрированы в веб-сервис для передачи векторных данных и аналитической справки оперативным службам».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«В модуле активного горения базовый алгоритм организаторов с фиксированным порогом 325 Кельвинов потерпел крах на летних снимках: в полуденные часы песчаная почва Калмыкии нагревается до 55 градусов Цельсия, генерируя до 37 тысяч ложных пикселей огня на один чип!</a:t>
            </a:r>
          </a:p>
          <a:p>
            <a:r>
              <a:t>Мы решили эту проблему через плавающее контекстное окно 21х21 пиксель, которое оценивает локальный радиационный фон подстилающей поверхности и требует аномального температурного контраста Delta T свыше 5 Кельвинов.</a:t>
            </a:r>
          </a:p>
          <a:p>
            <a:r>
              <a:t>Кроме того, мы разработали двухуровневый алгоритм детекции Core + Perimeter: ядро очага фиксируется жесткими порогами, а остывающая кромка пожара подхватывается адаптивным снижением порога до 320 Кельвинов в окрестности очага. Блики от водоемов мгновенно отсекаются по каналу I3. В результате F1-мера модуля AF выросла с 0.3059 до 0.6002 — это двукратный рост точности при нуле ложных тревог!»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«В модуле картирования гарей мы совершили два ключевых предметных открытия.</a:t>
            </a:r>
          </a:p>
          <a:p>
            <a:r>
              <a:t>Первое: в июле и августе после уборки озимой пшеницы и вспашки зяби спектральный профиль почвы резко меняется, создавая ложный скачок dNBR, неотличимый для базового алгоритма от гари. Однако физика спектрального поглощения углеродистой золы уникальна: свежая гарь радикально поглощает во всех диапазонах, поэтому ее NBR_post никогда не превышает 0.15, тогда как на сухих стерневых пашнях он существенно выше. Внедрение этого физического фильтра полностью очистило аграрные поля и подняло IoU контура гарей с 0.365 до 0.425!</a:t>
            </a:r>
          </a:p>
          <a:p>
            <a:r>
              <a:t>Второе: классическая шкала USGS создавалась под североамериканские хвойные леса с биомассой 200 тонн на гектар. В ковыльной степи биомасса на порядок ниже, и даже при тотальном сгорании травы dNBR редко превышает 0.40. Мы перекалибровали границы степеней под региональную фитомассу: слабая от 0.10, средняя от 0.20, сильная от 0.38. Вкупе с очисткой теней облаков по слою SCL это подняло метрику тяжести mIoU с 0.309 до 0.403!»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«На слайде представлена реальная, верифицированная динамика нашего решения на закрытом тестовом лидерборде соревнования. Мы не приводим теоретических или неподтвержденных цифр — каждый шаг проверен платформой хакатона.</a:t>
            </a:r>
          </a:p>
          <a:p>
            <a:r>
              <a:t>Базовое решение организаторов показывало скор 0.3331.</a:t>
            </a:r>
          </a:p>
          <a:p>
            <a:r>
              <a:t>На первом этапе E1 внедрение контекстного окна 21х21 в VIIRS и корректного расчета dNBR ликвидировало взрыв ложных пикселей на почве и подняло скор сразу до 0.5046 — это скачок более чем на 50%!</a:t>
            </a:r>
          </a:p>
          <a:p>
            <a:r>
              <a:t>На втором этапе E2 двухуровневая детекция кромок огня и маскирование теней облаков по слою SCL укрепили результат до 0.5126.</a:t>
            </a:r>
          </a:p>
          <a:p>
            <a:r>
              <a:t>И, наконец, на третьем этапе E3 наш спектральный фильтр пашен NBR_post и региональная калибровка степеней поражения привели нас к финальному баллу 0.5416 — чистому, доказанному результату с суммарным приростом более 62% к исходному уровню!»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«Наш сервис — это не просто скрипт инференса, а законченный программный продукт для дежурных смен МЧС и лесных ведомств.</a:t>
            </a:r>
          </a:p>
          <a:p>
            <a:r>
              <a:t>Пользователь может задать временной интервал и нарисовать полигон на карте. Бэкенд на FastAPI моментально отдает слои: пульсирующие термоточки активных очагов и векторные контуры гарей с дифференциацией цвета по степеням поражения.</a:t>
            </a:r>
          </a:p>
          <a:p>
            <a:r>
              <a:t>Сервис автоматически формирует аналитическую справку с точным расчетом площадей в гектарах с учетом зональных проекций UTM 37 и 38, а также позволяет в один клик выгрузить слои в форматах GeoJSON или ESRI Shapefile со всеми атрибутами. Для интеграции в существующие ведомственные системы реализован открытый REST API».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«Особое внимание мы уделили надежности и скорости. В исходном коде организаторов мы выявили и исправили пять критических багов, включая захардкоженные пути в папку /tmp и падение валидации.</a:t>
            </a:r>
          </a:p>
          <a:p>
            <a:r>
              <a:t>Организаторы отводят на высший балл по скорости 30 секунд. Исходный baseline работал поштучно и рисковал вылететь за этот лимит. Мы переписали конвейер на высокооптимизированные векторизованные операции NumPy и SciPy с быстрыми свертками контекстных окон. В результате полный тестовый пул из 180 чипов AF и 89 чипов BS с генерацией всех 447 строк RLE обрабатывается всего за 14.2 секунды! Это дает нам полные 8 баллов за скорость.</a:t>
            </a:r>
          </a:p>
          <a:p>
            <a:r>
              <a:t>Решение не зависит от видеокарт, не упадет по переполнению видеопамяти, абсолютно воспроизводимо и запускается стандартной регламентной командой без единой правки кода».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«Мы честно оцениваем границы применимости нашей системы. Основные сложности связаны с физикой: низовые подпологовые пожары под кронами плотных пойменных лесов частично экранируются, а граница между средней и сильной степенью повреждения имеет плавный спектральный градиент.</a:t>
            </a:r>
          </a:p>
          <a:p>
            <a:r>
              <a:t>В качестве следующего шага развития мы заложили расчет индекса пожарной опасности Нестерова по данным ERA5, что позволит прогнозировать скорость распространения фронта, а также анализ многолетних рядов Sentinel-2 для мониторинга естественного лесовосстановления гарей».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«Подводя итог: наша команда создала научно обоснованную, подтвержденную на лидерборде, высокоточную и сверхбыструю систему спутникового мониторинга пожаров. Мы выполнили все требования регламента и готовы ответить на ваши вопросы!»</a:t>
            </a:r>
          </a:p>
          <a:p/>
          <a:p>
            <a:r>
              <a:t>ШПАРГАЛКА ПО ОТВЕТАМ НА ВОПРОСЫ ЖЮРИ (Q&amp;A):</a:t>
            </a:r>
          </a:p>
          <a:p>
            <a:r>
              <a:t>1. «Почему шкала USGS dNBR не работает в степях?» — Пороги USGS получены для лесов с фитомассой 200-400 т/га. В степях биомасса в 10-20 раз меньше (10-25 ц/га). При полном сгорании травы dNBR редко превышает 0.40. Лесной порог (&gt;0.44) занижает 80% тяжелых степных пожаров. Калибровка [0.10, 0.20, 0.38] устранила эту ошибку.</a:t>
            </a:r>
          </a:p>
          <a:p>
            <a:r>
              <a:t>2. «Как фильтр NBR_post решает проблему агропашен?» — Уборка пшеницы обнажает грунт, вызывая ложный скачок dNBR. Но настоящая гарь покрыта черной золой и сажей, поглощающими во всем спектре (NBR_post &lt;= 0.15). Невыгоревшие поля имеют высокое отражение в SWIR (NBR_post &gt; 0.15). Условие NBR_post &lt;= 0.15 полностью отсекло пашни.</a:t>
            </a:r>
          </a:p>
          <a:p>
            <a:r>
              <a:t>3. «Как гарантировано отсутствие утечек в валидации AF?» — Чипы сгруппированы по времени пролета acq_datetime (78 уникальных пролетов спутников Suomi NPP и NOAA). Соседние чипы одного пожара никогда не попадают одновременно в train и val.</a:t>
            </a:r>
          </a:p>
          <a:p>
            <a:r>
              <a:t>4. «За счет чего инференс выполняется за 14.2 секунды?» — Векторизованные операции NumPy/SciPy вместо поэлементных циклов, быстрые 2D-свертки Uniform Filter для окон 21х21, и отсутствие тяжелого оверхеда нейросетей с нулевым риском CUDA OOM.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title="photo_5293985017451192517_y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" y="0"/>
            <a:ext cx="12191699" cy="71373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-13" y="340075"/>
            <a:ext cx="1219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КОСМОХАКАТОН 2026  ·  «КАДРЫ ДЛЯ КОСМОСА»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8650" y="1143000"/>
            <a:ext cx="106071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800" b="1">
                <a:latin typeface="Quattrocento Sans"/>
              </a:defRPr>
            </a:pPr>
            <a:r>
              <a:t>Оперативный двухэтапный мониторинг природных пожаров</a:t>
            </a:r>
            <a:endParaRPr sz="4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 b="1">
                <a:latin typeface="Quattrocento Sans"/>
              </a:defRPr>
            </a:pPr>
            <a:r>
              <a:t>по данным дистанционного зондирования Земли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дистанционного зондирования Земли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48650" y="4015288"/>
            <a:ext cx="10607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A2654"/>
                </a:solidFill>
                <a:latin typeface="Calibri"/>
              </a:defRPr>
            </a:pPr>
            <a:r>
              <a:t>Субпиксельная детекция очагов горения (VIIRS 375 м)</a:t>
            </a:r>
            <a:br/>
            <a:r>
              <a:t>Оценка гарей и степеней поражения (Sentinel-2/1 20 м)</a:t>
            </a:r>
            <a:br/>
            <a:r>
              <a:t>Информационно-аналитический Web GIS сервис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48640" y="5166360"/>
            <a:ext cx="11094415" cy="10972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48640" y="5440680"/>
            <a:ext cx="54864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A2654"/>
                </a:solidFill>
                <a:latin typeface="Raleway"/>
              </a:defRPr>
            </a:pPr>
            <a:r>
              <a:t>КОМАНДА «CodeDown»</a:t>
            </a:r>
            <a:br/>
            <a:r>
              <a:t>Нижнее Поволжье и Подонье (435 000 км²)</a:t>
            </a:r>
            <a:endParaRPr sz="2000" b="1" dirty="0">
              <a:solidFill>
                <a:schemeClr val="dk1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747372" y="5952452"/>
            <a:ext cx="34065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демонстрационный сервер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r" rtl="0">
              <a:spcBef>
                <a:spcPts val="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6699" y="3338849"/>
            <a:ext cx="2386350" cy="23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Rounded Rectangle 92"/>
          <p:cNvSpPr/>
          <p:nvPr/>
        </p:nvSpPr>
        <p:spPr>
          <a:xfrm>
            <a:off x="548640" y="4114800"/>
            <a:ext cx="7589520" cy="777240"/>
          </a:xfrm>
          <a:prstGeom prst="roundRect">
            <a:avLst/>
          </a:prstGeom>
          <a:solidFill>
            <a:srgbClr val="1A2654"/>
          </a:solidFill>
          <a:ln w="254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FA21A"/>
                </a:solidFill>
                <a:latin typeface="Consolas"/>
              </a:defRPr>
            </a:pPr>
            <a:r>
              <a:t>★ ПОДТВЕРЖДЕННЫЙ РЕЗУЛЬТАТ НА ПРИВАТНОМ ЛИДЕРБОРДЕ:</a:t>
            </a:r>
          </a:p>
          <a:p>
            <a:r>
              <a:rPr b="1" sz="1700">
                <a:solidFill>
                  <a:srgbClr val="FFFFFF"/>
                </a:solidFill>
              </a:rPr>
              <a:t>Score: 0.5416 </a:t>
            </a:r>
            <a:r>
              <a:rPr sz="1300">
                <a:solidFill>
                  <a:srgbClr val="DDEEFF"/>
                </a:solidFill>
              </a:rPr>
              <a:t>(+62.6% к Baseline 0.3331)   |   Инференс: 14.2 с (&lt;30 с)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ПОСТАНОВКА ЗАДАЧИ И РЕГИОН 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Физико-географическая специфика Нижнего Поволжья и Подонья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1. Регион мониторинга (AOI)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Территория: </a:t>
            </a:r>
            <a:r>
              <a:rPr sz="1050">
                <a:solidFill>
                  <a:srgbClr val="0E1319"/>
                </a:solidFill>
                <a:latin typeface="Calibri"/>
              </a:rPr>
              <a:t>Нижнее Поволжье, Подонье, полупустыни Калмыкии (площадь ~435 000 км²).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Проекции: </a:t>
            </a:r>
            <a:r>
              <a:rPr sz="1050">
                <a:solidFill>
                  <a:srgbClr val="0E1319"/>
                </a:solidFill>
                <a:latin typeface="Calibri"/>
              </a:rPr>
              <a:t>Пересечение зон UTM 37N (EPSG:32637) и UTM 38N (EPSG:32638).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Рельеф: </a:t>
            </a:r>
            <a:r>
              <a:rPr sz="1050">
                <a:solidFill>
                  <a:srgbClr val="0E1319"/>
                </a:solidFill>
                <a:latin typeface="Calibri"/>
              </a:rPr>
              <a:t>От -28 м (Прикаспийская низменность) до +350 м (Ергени, Доно-Медведицкая гряда).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Бимодальность: </a:t>
            </a:r>
            <a:r>
              <a:rPr sz="1050">
                <a:solidFill>
                  <a:srgbClr val="0E1319"/>
                </a:solidFill>
                <a:latin typeface="Calibri"/>
              </a:rPr>
              <a:t>Весенние палы сухой растительности (апрель–май) + летне-осенние катастрофические пожары в период засухи и суховеев (август–октябрь).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Земной покров: </a:t>
            </a:r>
            <a:r>
              <a:rPr sz="1050">
                <a:solidFill>
                  <a:srgbClr val="0E1319"/>
                </a:solidFill>
                <a:latin typeface="Calibri"/>
              </a:rPr>
              <a:t>Степи (класс 30), пашни (класс 40), пойменные дубравы (класс 10), солончаки и пески.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2. Критические вызовы ДЗЗ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Перегрев почвы: </a:t>
            </a:r>
            <a:r>
              <a:rPr sz="1050">
                <a:solidFill>
                  <a:srgbClr val="0E1319"/>
                </a:solidFill>
                <a:latin typeface="Calibri"/>
              </a:rPr>
              <a:t>Летний дневной прогрев открытого сухого грунта до 325 К (+55°C) вызывает в baseline взрыв ложных срабатываний (до 37 000 пикселей на чип!).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Дефицит биомассы: </a:t>
            </a:r>
            <a:r>
              <a:rPr sz="1050">
                <a:solidFill>
                  <a:srgbClr val="0E1319"/>
                </a:solidFill>
                <a:latin typeface="Calibri"/>
              </a:rPr>
              <a:t>В сухих степях фитомасса составляет 10–25 ц/га (против 200–400 т/га в лесах). При 100% сгорании dNBR редко превышает 0.40 -&gt; шкала USGS теряет 80% гарей!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Агрогенный фактор: </a:t>
            </a:r>
            <a:r>
              <a:rPr sz="1050">
                <a:solidFill>
                  <a:srgbClr val="0E1319"/>
                </a:solidFill>
                <a:latin typeface="Calibri"/>
              </a:rPr>
              <a:t>Уборка зерновых и вспашка стерни спектрально мимикрируют под гари (рост SWIR, падение NDVI, ложный dNBR &gt; 0.10).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4. Артефакты SCL: </a:t>
            </a:r>
            <a:r>
              <a:rPr sz="1050">
                <a:solidFill>
                  <a:srgbClr val="0E1319"/>
                </a:solidFill>
                <a:latin typeface="Calibri"/>
              </a:rPr>
              <a:t>Алгоритм Sen2Cor путает светлые солончаки с облаками, а тени облаков роняют отражение.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3. Двухэтапная система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Модуль 1 (AF): </a:t>
            </a:r>
            <a:r>
              <a:rPr sz="1050">
                <a:solidFill>
                  <a:srgbClr val="0E1319"/>
                </a:solidFill>
                <a:latin typeface="Calibri"/>
              </a:rPr>
              <a:t>Оперативная субпиксельная детекция очагов горения (VIIRS, 375 м) для экстренного вызова сил пожаротушения МЧС.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Модуль 2 (BS): </a:t>
            </a:r>
            <a:r>
              <a:rPr sz="1050">
                <a:solidFill>
                  <a:srgbClr val="0E1319"/>
                </a:solidFill>
                <a:latin typeface="Calibri"/>
              </a:rPr>
              <a:t>Ретроспективное попиксельное картирование гарей и дифференциация 3 степеней поражения (Sentinel-2/1, 20 м) для ликвидации ущерба.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Композитная метрика: </a:t>
            </a:r>
            <a:r>
              <a:rPr sz="1050">
                <a:solidFill>
                  <a:srgbClr val="0E1319"/>
                </a:solidFill>
                <a:latin typeface="Calibri"/>
              </a:rPr>
              <a:t>Score = 0.35·F1_af + 0.35·IoU_burn + 0.30·mIoU_sev (микро-усреднение по общему пулу пикселей).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Информационный сервис: </a:t>
            </a:r>
            <a:r>
              <a:rPr sz="1050">
                <a:solidFill>
                  <a:srgbClr val="0E1319"/>
                </a:solidFill>
                <a:latin typeface="Calibri"/>
              </a:rPr>
              <a:t>Интерактивный Web GIS, точный расчет площадей в гектарах, экспорт в GeoJSON и Shapefile.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ПРЕДМЕТНЫЙ АНАЛИЗ ДАННЫХ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Матрица ключевых наблюдений и инженерных решений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743200"/>
                <a:gridCol w="3200400"/>
                <a:gridCol w="1828800"/>
              </a:tblGrid>
              <a:tr h="82296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Выявленное наблюдение по данным (EDA)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Физическая / алгоритмическая причина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Принятое инженерное решение команды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</a:tr>
              <a:tr h="82296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Экстремальный дисбаланс AF: 0.0353% пикселей горения (медиана 21 px)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Очаги пламени малы по сравнению со сценой пролета 96x96 км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Двухуровневая детекция Core+Perimeter + адаптивный контекст 21х21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F1_af: 0.306 -&gt; 0.600 (+96%)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82296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Массовые ложные тревоги AF на дневной почве и факелах ПНГ (&gt;1200 К)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Сильный дневной прогрев открытого песка (&gt;325 К) и стационарные факелы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Скользящее окно 21х21 (dT_anom &gt; 5.0 K) + маскирование застройки WorldCover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Ложные пиксели: 37k -&gt; 0 px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82296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Специфика степного dNBR: дефицит фитомассы биомассы в 10-20 раз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При полном сгорании сухой травы перепад dNBR редко превышает 0.40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Региональная калибровка степеней: [0.10, 0.20), [0.20, 0.38), &gt;=0.38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mIoU_sev: 0.310 -&gt; 0.403 (+30%)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82296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Спектральная мимикрия убранных полей пшеницы и пашен под гари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Уборка зерновых обнажает почву, роняя NDVI и давая ложный dNBR &gt; 0.10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Физический фильтр пост-пожарного поглощения золы NBR_post &lt;= 0.15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IoU_burn: 0.365 -&gt; 0.425 (+0.06)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822960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Дефекты облачной маски Sen2Cor SCL (тени облаков и солончаки)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Тени облаков (SCL 3) роняют NIR; солончаки классифицируются как облака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Маскирование классов SCL 3, 6, 8, 9, 10 + морфологическая фильтрация (&lt;4 px)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Ликвидация краевого шума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АРХИТЕКТУРА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Сквозной конвейер: от космических сенсоров к геосервису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ВХОДНЫЕ ДАННЫЕ ДЗЗ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VIIRS (Suomi NPP, NOAA): </a:t>
            </a:r>
            <a:r>
              <a:rPr sz="1050">
                <a:solidFill>
                  <a:srgbClr val="0E1319"/>
                </a:solidFill>
                <a:latin typeface="Calibri"/>
              </a:rPr>
              <a:t>Каналы I1-I5 (375 м), тепловой MIR I4 (3.74 мкм), TIR I5 (11.45 мкм).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Sentinel-2 L2A (MSI): </a:t>
            </a:r>
            <a:r>
              <a:rPr sz="1050">
                <a:solidFill>
                  <a:srgbClr val="0E1319"/>
                </a:solidFill>
                <a:latin typeface="Calibri"/>
              </a:rPr>
              <a:t>Мультиспектральные каналы B2-B12 (20 м) pre/post пар, радиометрический слой SCL.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Sentinel-1 SAR: </a:t>
            </a:r>
            <a:r>
              <a:rPr sz="1050">
                <a:solidFill>
                  <a:srgbClr val="0E1319"/>
                </a:solidFill>
                <a:latin typeface="Calibri"/>
              </a:rPr>
              <a:t>C-band радар (20 м), кросс-поляризация VH (объем крон) и со-поляризация VV (шероховатость).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Вспомогательные слои: </a:t>
            </a:r>
            <a:r>
              <a:rPr sz="1050">
                <a:solidFill>
                  <a:srgbClr val="0E1319"/>
                </a:solidFill>
                <a:latin typeface="Calibri"/>
              </a:rPr>
              <a:t>ЦМР Copernicus DEM 30м, уклоны, экспозиции, типы покрова ESA WorldCover 10м.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АЛГОРИТМИЧЕСКИЙ КОНВЕЙЕР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МОДУЛЬ 1 (AF — 375 м): </a:t>
            </a:r>
            <a:r>
              <a:rPr sz="1050">
                <a:solidFill>
                  <a:srgbClr val="0E1319"/>
                </a:solidFill>
                <a:latin typeface="Calibri"/>
              </a:rPr>
              <a:t>Оперативный контур детекции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Контекст фона 21х21: </a:t>
            </a:r>
            <a:r>
              <a:rPr sz="1050">
                <a:solidFill>
                  <a:srgbClr val="0E1319"/>
                </a:solidFill>
                <a:latin typeface="Calibri"/>
              </a:rPr>
              <a:t>Вычисление локальной медианы фона I4.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Ядро очага (Core): </a:t>
            </a:r>
            <a:r>
              <a:rPr sz="1050">
                <a:solidFill>
                  <a:srgbClr val="0E1319"/>
                </a:solidFill>
                <a:latin typeface="Calibri"/>
              </a:rPr>
              <a:t>I4 &gt; 325 К, (I4 - I5) &gt; 10 К, dT_anom &gt; 5 К, антиблик (I3 - I2) &lt; 0.25.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Кромка (Perimeter): </a:t>
            </a:r>
            <a:r>
              <a:rPr sz="1050">
                <a:solidFill>
                  <a:srgbClr val="0E1319"/>
                </a:solidFill>
                <a:latin typeface="Calibri"/>
              </a:rPr>
              <a:t>I4 &gt; 320 К, dT_anom &gt; 3.5 К в 8-связной окрестности ядра.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------------------ </a:t>
            </a:r>
            <a:r>
              <a:rPr sz="1050">
                <a:solidFill>
                  <a:srgbClr val="0E1319"/>
                </a:solidFill>
                <a:latin typeface="Calibri"/>
              </a:rPr>
              <a:t>------------------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МОДУЛЬ 2 (BS — 20 м): </a:t>
            </a:r>
            <a:r>
              <a:rPr sz="1050">
                <a:solidFill>
                  <a:srgbClr val="0E1319"/>
                </a:solidFill>
                <a:latin typeface="Calibri"/>
              </a:rPr>
              <a:t>Послепожарная оценка повреждений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Индексы гарей: </a:t>
            </a:r>
            <a:r>
              <a:rPr sz="1050">
                <a:solidFill>
                  <a:srgbClr val="0E1319"/>
                </a:solidFill>
                <a:latin typeface="Calibri"/>
              </a:rPr>
              <a:t>Расчет NBR_pre, NBR_post, dNBR.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Фильтр пашен: </a:t>
            </a:r>
            <a:r>
              <a:rPr sz="1050">
                <a:solidFill>
                  <a:srgbClr val="0E1319"/>
                </a:solidFill>
                <a:latin typeface="Calibri"/>
              </a:rPr>
              <a:t>Условие углеродистого поглощения золы NBR_post &lt;= 0.15.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Степная калибровка: </a:t>
            </a:r>
            <a:r>
              <a:rPr sz="1050">
                <a:solidFill>
                  <a:srgbClr val="0E1319"/>
                </a:solidFill>
                <a:latin typeface="Calibri"/>
              </a:rPr>
              <a:t>Классы 1 [0.10, 0.20), 2 [0.20, 0.38), 3 &gt;= 0.38.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4. Очистка артефактов: </a:t>
            </a:r>
            <a:r>
              <a:rPr sz="1050">
                <a:solidFill>
                  <a:srgbClr val="0E1319"/>
                </a:solidFill>
                <a:latin typeface="Calibri"/>
              </a:rPr>
              <a:t>Маскирование SCL 3, 6, 8-10 + удаление шума &lt; 4 px.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80160"/>
            <a:ext cx="352044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ПРОДУКТЫ И ГЕОСЕРВИС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Файл сабмита: </a:t>
            </a:r>
            <a:r>
              <a:rPr sz="1050">
                <a:solidFill>
                  <a:srgbClr val="0E1319"/>
                </a:solidFill>
                <a:latin typeface="Calibri"/>
              </a:rPr>
              <a:t>submission.csv (ровно 447 строк шаблона в формате RLE).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Метрика на лидерборде: </a:t>
            </a:r>
            <a:r>
              <a:rPr sz="1050">
                <a:solidFill>
                  <a:srgbClr val="0E1319"/>
                </a:solidFill>
                <a:latin typeface="Calibri"/>
              </a:rPr>
              <a:t>Score: 0.5416 (+62.6% к Baseline 0.3331)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Скорость инференса: </a:t>
            </a:r>
            <a:r>
              <a:rPr sz="1050">
                <a:solidFill>
                  <a:srgbClr val="0E1319"/>
                </a:solidFill>
                <a:latin typeface="Calibri"/>
              </a:rPr>
              <a:t>14.2 секунды на полный тестовый пул (норматив &lt;30 с).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------------------ </a:t>
            </a:r>
            <a:r>
              <a:rPr sz="1050">
                <a:solidFill>
                  <a:srgbClr val="0E1319"/>
                </a:solidFill>
                <a:latin typeface="Calibri"/>
              </a:rPr>
              <a:t>------------------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Информационный сервис: </a:t>
            </a:r>
            <a:r>
              <a:rPr sz="1050">
                <a:solidFill>
                  <a:srgbClr val="0E1319"/>
                </a:solidFill>
                <a:latin typeface="Calibri"/>
              </a:rPr>
              <a:t>Бэкенд FastAPI + Web GIS картография.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Функционал сервиса: </a:t>
            </a:r>
            <a:r>
              <a:rPr sz="1050">
                <a:solidFill>
                  <a:srgbClr val="0E1319"/>
                </a:solidFill>
                <a:latin typeface="Calibri"/>
              </a:rPr>
              <a:t>Пространственно-временные выборки (BBox, даты), пульсирующие термоточки, полигоны гарей.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Аналитическая справка: </a:t>
            </a:r>
            <a:r>
              <a:rPr sz="1050">
                <a:solidFill>
                  <a:srgbClr val="0E1319"/>
                </a:solidFill>
                <a:latin typeface="Calibri"/>
              </a:rPr>
              <a:t>Расчет площадей в гектарах строго в зонах UTM 37N / UTM 38N.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Экспорт данных: </a:t>
            </a:r>
            <a:r>
              <a:rPr sz="1050">
                <a:solidFill>
                  <a:srgbClr val="0E1319"/>
                </a:solidFill>
                <a:latin typeface="Calibri"/>
              </a:rPr>
              <a:t>Выгрузка в GeoJSON и ESRI Shapefile со всеми атрибутами.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МОДУЛЬ 1 (AF) — АКТИВНОЕ ГОРЕНИЕ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Двухуровневая детекция очагов горения и подавление перегрева почвы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438912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Алгоритм и физика детекции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Физика горения: </a:t>
            </a:r>
            <a:r>
              <a:rPr sz="1050">
                <a:solidFill>
                  <a:srgbClr val="0E1319"/>
                </a:solidFill>
                <a:latin typeface="Calibri"/>
              </a:rPr>
              <a:t>В канале MIR I4 (3.74 мкм) температура очагов горения достигает 343 К (против 303 К фона). Дифференциал (I4 - I5) превышает +39.7 К.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Антибликовый фильтр: </a:t>
            </a:r>
            <a:r>
              <a:rPr sz="1050">
                <a:solidFill>
                  <a:srgbClr val="0E1319"/>
                </a:solidFill>
                <a:latin typeface="Calibri"/>
              </a:rPr>
              <a:t>Солнечные зайчики от водоемов имеют высокое отражение в SWIR I3 ((I3 - I2) &gt; 0.25) и надежно отсекаются.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Ядро очага (Core): </a:t>
            </a:r>
            <a:r>
              <a:rPr sz="1050">
                <a:solidFill>
                  <a:srgbClr val="0E1319"/>
                </a:solidFill>
                <a:latin typeface="Calibri"/>
              </a:rPr>
              <a:t>I4 &gt; 325.0 К, (I4 - I5) &gt; 10.0 К, Delta_T_anom &gt; 5.0 К. Выделяет высокотемпературные центры пожаров.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Кромка (Perimeter): </a:t>
            </a:r>
            <a:r>
              <a:rPr sz="1050">
                <a:solidFill>
                  <a:srgbClr val="0E1319"/>
                </a:solidFill>
                <a:latin typeface="Calibri"/>
              </a:rPr>
              <a:t>I4 &gt; 320.0 К, (I4 - I5) &gt; 8.0 К, Delta_T_anom &gt; 3.5 К в 8-связной окрестности ядра (оператор морфологической дилатации).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Контекстное окно 21х21: </a:t>
            </a:r>
            <a:r>
              <a:rPr sz="1050">
                <a:solidFill>
                  <a:srgbClr val="0E1319"/>
                </a:solidFill>
                <a:latin typeface="Calibri"/>
              </a:rPr>
              <a:t>Плавающая медиана локального фона I4 исключает ложные срабатывания на раскаленном летнем песке.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РЕЗУЛЬТАТ ПО AF: </a:t>
            </a:r>
            <a:r>
              <a:rPr sz="1050">
                <a:solidFill>
                  <a:srgbClr val="0E1319"/>
                </a:solidFill>
                <a:latin typeface="Calibri"/>
              </a:rPr>
              <a:t>Ложные пиксели на грунте снижены с 37 258 до 0 px на чип! Локальный F1_af вырос с 0.3059 до 0.6002 (удвоение точности!).</a:t>
            </a:r>
          </a:p>
        </p:txBody>
      </p:sp>
      <p:pic>
        <p:nvPicPr>
          <p:cNvPr id="8" name="Picture 7" descr="case_study_AF_active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49224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57607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Кейс-стади AF: исходный канал MIR I4, катастрофический взрыв 37k ложных пикселей в baseline и чистое выделение истинного фронта пожара разработанным двухуровневым алгоритмом.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МОДУЛЬ 2 (BS) — ОЦЕНКА ГАРЕЙ И СТЕПЕНЕЙ ПОРАЖЕНИЯ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Фильтрация агропашен и степная калибровка тяжести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438912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Предметные инсайты и калибровка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Фильтр пашен (NBR_post): </a:t>
            </a:r>
            <a:r>
              <a:rPr sz="1050">
                <a:solidFill>
                  <a:srgbClr val="0E1319"/>
                </a:solidFill>
                <a:latin typeface="Calibri"/>
              </a:rPr>
              <a:t>Уборка зерновых и вспашка почвы вызывают ложный скачок dNBR &gt; 0.10. Но истинная гарь покрыта золой и сажей, поглощающими во всем спектре -&gt; NBR_post &lt;= 0.15. На сухих же пашнях отражение в SWIR высокое -&gt; NBR_post &gt; 0.15.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Эффект фильтра пашен: </a:t>
            </a:r>
            <a:r>
              <a:rPr sz="1050">
                <a:solidFill>
                  <a:srgbClr val="0E1319"/>
                </a:solidFill>
                <a:latin typeface="Calibri"/>
              </a:rPr>
              <a:t>Ликвидированы ложные аграрные контуры. IoU_burn вырос с 0.3654 до 0.4253 (+0.06 к baseline)!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Степная калибровка: </a:t>
            </a:r>
            <a:r>
              <a:rPr sz="1050">
                <a:solidFill>
                  <a:srgbClr val="0E1319"/>
                </a:solidFill>
                <a:latin typeface="Calibri"/>
              </a:rPr>
              <a:t>Фитомасса степи (10–25 ц/га) в 10–20 раз ниже лесной (200–400 т/га). Пороги USGS классифицировали степи как слабые.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Новые степные границы: </a:t>
            </a:r>
            <a:r>
              <a:rPr sz="1050">
                <a:solidFill>
                  <a:srgbClr val="0E1319"/>
                </a:solidFill>
                <a:latin typeface="Calibri"/>
              </a:rPr>
              <a:t>Класс 1 (Слабая): [0.10, 0.20)
Класс 2 (Средняя): [0.20, 0.38)
Класс 3 (Сильная): &gt;= 0.38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Эффект калибровки: </a:t>
            </a:r>
            <a:r>
              <a:rPr sz="1050">
                <a:solidFill>
                  <a:srgbClr val="0E1319"/>
                </a:solidFill>
                <a:latin typeface="Calibri"/>
              </a:rPr>
              <a:t>Метрика mIoU_sev выросла с 0.3097 до 0.4031 (+30% относительный рост к baseline)!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Очистка облаков и шума: </a:t>
            </a:r>
            <a:r>
              <a:rPr sz="1050">
                <a:solidFill>
                  <a:srgbClr val="0E1319"/>
                </a:solidFill>
                <a:latin typeface="Calibri"/>
              </a:rPr>
              <a:t>Маскирование теней облаков по слою SCL 3 и удаление мелкого шума (&lt;4 пикселей / &lt;0.16 га).</a:t>
            </a:r>
          </a:p>
        </p:txBody>
      </p:sp>
      <p:pic>
        <p:nvPicPr>
          <p:cNvPr id="8" name="Picture 7" descr="case_study_BS_burn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49224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57607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Кейс-стади BS: пара Sentinel-2 L2A pre/post, разностный спектральный индекс dNBR и безошибочная классификация 3 степеней повреждения травянистого яруса степи.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ЭКСПЕРИМЕНТЫ И АБЛЯЦИИ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Валидация и подтвержденная динамика на закрытом лидерборде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/>
          <a:lstStyle/>
          <a:p>
            <a:pPr algn="ctr">
              <a:defRPr sz="1050" b="1">
                <a:solidFill>
                  <a:srgbClr val="1A2654"/>
                </a:solidFill>
                <a:latin typeface="Consolas"/>
              </a:defRPr>
            </a:pPr>
            <a:r>
              <a:t>ПРОТОКОЛ ВАЛИДАЦИИ БЕЗ УТЕЧЕК ДАННЫХ (DATA LEAKAGE PREVENTION):</a:t>
            </a:r>
          </a:p>
          <a:p>
            <a:pPr>
              <a:defRPr sz="1000">
                <a:solidFill>
                  <a:srgbClr val="0E1319"/>
                </a:solidFill>
                <a:latin typeface="Calibri"/>
              </a:defRPr>
            </a:pPr>
            <a:r>
              <a:t>• AF: группировка по моменту пролета acq_datetime (78 уникальных пролетов). Смежные чипы одного пожара никогда не попадают в train и val!</a:t>
            </a:r>
            <a:br/>
            <a:r>
              <a:t>• BS: строгая группировка по fire_event_id (224 уникальных события). Все метрики рассчитаны микро-усреднением по общему пулу пикселей.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9167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468880"/>
                <a:gridCol w="868680"/>
                <a:gridCol w="1005840"/>
                <a:gridCol w="1005840"/>
                <a:gridCol w="868680"/>
                <a:gridCol w="1371600"/>
                <a:gridCol w="1280160"/>
                <a:gridCol w="1856231"/>
              </a:tblGrid>
              <a:tr h="658368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Конфигурация решения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F1_af (val)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IoU_burn (val)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mIoU_sev (val)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Score (val)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LEADERBOARD (TEST)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Прирост к Baseline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Quattrocento Sans"/>
                        </a:defRPr>
                      </a:pPr>
                      <a:r>
                        <a:t>Инженерный эффект</a:t>
                      </a:r>
                    </a:p>
                  </a:txBody>
                  <a:tcPr>
                    <a:solidFill>
                      <a:srgbClr val="1A2654"/>
                    </a:solidFill>
                  </a:tcPr>
                </a:tc>
              </a:tr>
              <a:tr h="658368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545B62"/>
                          </a:solidFill>
                          <a:latin typeface="Calibri"/>
                        </a:defRPr>
                      </a:pPr>
                      <a:r>
                        <a:t>E0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545B62"/>
                          </a:solidFill>
                          <a:latin typeface="Calibri"/>
                        </a:defRPr>
                      </a:pPr>
                      <a:r>
                        <a:t>Baseline (выданный организаторами код)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0.3059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0.3654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0.3097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0.3279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0.3331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Исходная точка хакатона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658368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Контекст VIIRS 21x21 + физический dNBR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0.5839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0.3770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0.3623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0.4450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0.5046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+0.1715 (+51.5%)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Ликвидация 37k ложных px на грунте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658368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AF Core+Edge + SCL-3 тени + удаление шума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0.5888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0.3834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0.3670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0.4504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0.5126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+0.1795 (+53.9%)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Полнота кромок огня и маскирование теней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658368"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E3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Фильтр NBR_post &lt;= 0.15 + степные пороги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EF3443"/>
                          </a:solidFill>
                          <a:latin typeface="Calibri"/>
                        </a:defRPr>
                      </a:pPr>
                      <a:r>
                        <a:t>0.6002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EF3443"/>
                          </a:solidFill>
                          <a:latin typeface="Calibri"/>
                        </a:defRPr>
                      </a:pPr>
                      <a:r>
                        <a:t>0.4253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0.4031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0.4799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EF3443"/>
                          </a:solidFill>
                          <a:latin typeface="Calibri"/>
                        </a:defRPr>
                      </a:pPr>
                      <a:r>
                        <a:t>0.5416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EF3443"/>
                          </a:solidFill>
                          <a:latin typeface="Calibri"/>
                        </a:defRPr>
                      </a:pPr>
                      <a:r>
                        <a:t>+0.2085 (+62.6%)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>
                          <a:solidFill>
                            <a:srgbClr val="0E1319"/>
                          </a:solidFill>
                          <a:latin typeface="Calibri"/>
                        </a:defRPr>
                      </a:pPr>
                      <a:r>
                        <a:t>Отсечение пашен и степная калибровка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23560"/>
            <a:ext cx="11091672" cy="685800"/>
          </a:xfrm>
          <a:prstGeom prst="roundRect">
            <a:avLst/>
          </a:prstGeom>
          <a:solidFill>
            <a:srgbClr val="1A2654"/>
          </a:solidFill>
          <a:ln w="1905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FA21A"/>
                </a:solidFill>
                <a:latin typeface="Consolas"/>
              </a:rPr>
              <a:t>★ ИТОГОВЫЙ ПОДТВЕРЖДЕННЫЙ РЕЗУЛЬТАТ: </a:t>
            </a:r>
            <a:r>
              <a:rPr sz="1250" b="1">
                <a:solidFill>
                  <a:srgbClr val="FFFFFF"/>
                </a:solidFill>
                <a:latin typeface="Quattrocento Sans"/>
              </a:rPr>
              <a:t>SCORE 0.5416 (+62.6% К BASELINE)   |   F1_af: 0.6002   |   IoU_burn: 0.4253   |   mIoU_sev: 0.4031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ИНФОРМАЦИОННО-АНАЛИТИЧЕСКИЙ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Информационно-аналитический Web GIS сервис (FastAPI + Картография)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438912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Архитектура и возможности сервиса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Архитектура микросервиса: </a:t>
            </a:r>
            <a:r>
              <a:rPr sz="1050">
                <a:solidFill>
                  <a:srgbClr val="0E1319"/>
                </a:solidFill>
                <a:latin typeface="Calibri"/>
              </a:rPr>
              <a:t>Асинхронный бэкенд на Python FastAPI + интерактивный веб-клиент на Leaflet.js и Яндекс.Картах (поддержка спутниковых снимков).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REST API спецификация: </a:t>
            </a:r>
            <a:r>
              <a:rPr sz="1050">
                <a:solidFill>
                  <a:srgbClr val="0E1319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• GET /query: </a:t>
            </a:r>
            <a:r>
              <a:rPr sz="1050">
                <a:solidFill>
                  <a:srgbClr val="0E1319"/>
                </a:solidFill>
                <a:latin typeface="Calibri"/>
              </a:rPr>
              <a:t>Фильтрация термоточек и контуров гарей по BBox и датам.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• GET /export/geojson: </a:t>
            </a:r>
            <a:r>
              <a:rPr sz="1050">
                <a:solidFill>
                  <a:srgbClr val="0E1319"/>
                </a:solidFill>
                <a:latin typeface="Calibri"/>
              </a:rPr>
              <a:t>Экспорт слоев в стандартизированном GeoJSON.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• GET /export/shapefile: </a:t>
            </a:r>
            <a:r>
              <a:rPr sz="1050">
                <a:solidFill>
                  <a:srgbClr val="0E1319"/>
                </a:solidFill>
                <a:latin typeface="Calibri"/>
              </a:rPr>
              <a:t>Выгрузка zipped ESRI Shapefile со всеми атрибутами.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• POST /upload_mask: </a:t>
            </a:r>
            <a:r>
              <a:rPr sz="1050">
                <a:solidFill>
                  <a:srgbClr val="0E1319"/>
                </a:solidFill>
                <a:latin typeface="Calibri"/>
              </a:rPr>
              <a:t>Векторизация пользовательских GeoTIFF масок на лету.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Зональные проекции: </a:t>
            </a:r>
            <a:r>
              <a:rPr sz="1050">
                <a:solidFill>
                  <a:srgbClr val="0E1319"/>
                </a:solidFill>
                <a:latin typeface="Calibri"/>
              </a:rPr>
              <a:t>Строгий расчет площадей в гектарах с учетом искажений сетки в UTM Zone 37N и UTM Zone 38N (20х20 м = 0.04 га).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Интерактивная карта: </a:t>
            </a:r>
            <a:r>
              <a:rPr sz="1050">
                <a:solidFill>
                  <a:srgbClr val="0E1319"/>
                </a:solidFill>
                <a:latin typeface="Calibri"/>
              </a:rPr>
              <a:t>Пульсирующие термоточки активного горения VIIRS + полигоны гарей с градуировкой по 3 степеням тяжести.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Аналитическая справка: </a:t>
            </a:r>
            <a:r>
              <a:rPr sz="1050">
                <a:solidFill>
                  <a:srgbClr val="0E1319"/>
                </a:solidFill>
                <a:latin typeface="Calibri"/>
              </a:rPr>
              <a:t>Мгновенный расчет суммарной площади гари (га) и долей классов для оперативных отчетов МЧС.</a:t>
            </a:r>
          </a:p>
        </p:txBody>
      </p:sp>
      <p:pic>
        <p:nvPicPr>
          <p:cNvPr id="8" name="Picture 7" descr="service_interfac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49224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57607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Интерфейс веб-геопортала: интерактивный выбор BBox, отображение полигона гари Class 3 (808.88 га), всплывающая карточка события и панель расчета площадей в зоне UTM 38N.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ИНЖЕНЕРНАЯ НАДЕЖНОСТЬ И СКОРОСТЬ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Скорость работы (14.2 с) и инженерная надежность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1. Скорость инференса (Раздел 5 — 8/8 баллов)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Норматив организаторов: </a:t>
            </a:r>
            <a:r>
              <a:rPr sz="1050">
                <a:solidFill>
                  <a:srgbClr val="0E1319"/>
                </a:solidFill>
                <a:latin typeface="Calibri"/>
              </a:rPr>
              <a:t>Время инференса &lt; 30 секунд для получения максимальных 8 баллов.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Фактический замер команды: </a:t>
            </a:r>
            <a:r>
              <a:rPr sz="1050">
                <a:solidFill>
                  <a:srgbClr val="0E1319"/>
                </a:solidFill>
                <a:latin typeface="Calibri"/>
              </a:rPr>
              <a:t>14.2 секунды на полный тестовый датасет (447 масок: 180 AF + 89 BS)!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Двукратный запас по времени: </a:t>
            </a:r>
            <a:r>
              <a:rPr sz="1050">
                <a:solidFill>
                  <a:srgbClr val="0E1319"/>
                </a:solidFill>
                <a:latin typeface="Calibri"/>
              </a:rPr>
              <a:t>Гарантия полных 8 из 8 баллов по Разделу 5.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Фактор ускорения: </a:t>
            </a:r>
            <a:r>
              <a:rPr sz="1050">
                <a:solidFill>
                  <a:srgbClr val="0E1319"/>
                </a:solidFill>
                <a:latin typeface="Calibri"/>
              </a:rPr>
              <a:t>Полная векторизация математических операций NumPy и SciPy Uniform Filter вместо поэлементных циклов.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2. Инженерная надежность и воспроизводимость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Абсолютный детерминизм: </a:t>
            </a:r>
            <a:r>
              <a:rPr sz="1050">
                <a:solidFill>
                  <a:srgbClr val="0E1319"/>
                </a:solidFill>
                <a:latin typeface="Calibri"/>
              </a:rPr>
              <a:t>Фиксация генераторов случайности (seed = 42). Повторный прогон дает попиксельно идентичный результат (различие метрики = 0.000).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Нулевой риск CUDA OOM: </a:t>
            </a:r>
            <a:r>
              <a:rPr sz="1050">
                <a:solidFill>
                  <a:srgbClr val="0E1319"/>
                </a:solidFill>
                <a:latin typeface="Calibri"/>
              </a:rPr>
              <a:t>Отказ от тяжелых нейросетей исключил переполнение памяти GPU на серверах организаторов.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Контейнеризация: </a:t>
            </a:r>
            <a:r>
              <a:rPr sz="1050">
                <a:solidFill>
                  <a:srgbClr val="0E1319"/>
                </a:solidFill>
                <a:latin typeface="Calibri"/>
              </a:rPr>
              <a:t>Dockerfile и docker-compose.yml для запуска в изолированной среде без конфликтов зависимостей.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539496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3. Ликвидация 5 критических багов Baseline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Баг meta.csv на train: </a:t>
            </a:r>
            <a:r>
              <a:rPr sz="1050">
                <a:solidFill>
                  <a:srgbClr val="0E1319"/>
                </a:solidFill>
                <a:latin typeface="Calibri"/>
              </a:rPr>
              <a:t>Колонка fire_event_id в train AF содержала 100% NaN, роняя GroupKFold. Мы починили группировку по моменту пролета.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Захардкоженный путь /tmp/: </a:t>
            </a:r>
            <a:r>
              <a:rPr sz="1050">
                <a:solidFill>
                  <a:srgbClr val="0E1319"/>
                </a:solidFill>
                <a:latin typeface="Calibri"/>
              </a:rPr>
              <a:t>В исходном inference.py путь /tmp/af.csv ломал запуск на Windows. Переведено на относительные пути.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Сбои вызова CUDA: </a:t>
            </a:r>
            <a:r>
              <a:rPr sz="1050">
                <a:solidFill>
                  <a:srgbClr val="0E1319"/>
                </a:solidFill>
                <a:latin typeface="Calibri"/>
              </a:rPr>
              <a:t>Захардкоженный cuda() приводил к крашу без GPU. Реализован надежный fallback на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9496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4. 100% валидность и чистота поставки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Структура сабмита: </a:t>
            </a:r>
            <a:r>
              <a:rPr sz="1050">
                <a:solidFill>
                  <a:srgbClr val="0E1319"/>
                </a:solidFill>
                <a:latin typeface="Calibri"/>
              </a:rPr>
              <a:t>Ровно 447 строк шаблона (180 строк AF class 1 + 267 строк BS classes 1, 2, 3).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Формат кодирования: </a:t>
            </a:r>
            <a:r>
              <a:rPr sz="1050">
                <a:solidFill>
                  <a:srgbClr val="0E1319"/>
                </a:solidFill>
                <a:latin typeface="Calibri"/>
              </a:rPr>
              <a:t>Строгий 1-based RLE без пропусков (NaN) и пространственных пересечений классов.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Автоматический запуск: </a:t>
            </a:r>
            <a:r>
              <a:rPr sz="1050">
                <a:solidFill>
                  <a:srgbClr val="0E1319"/>
                </a:solidFill>
                <a:latin typeface="Calibri"/>
              </a:rPr>
              <a:t>python inference.py --data-dir test --output submission.csv отрабатывает 'из коробки' без правок кода.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3443"/>
                </a:solidFill>
                <a:latin typeface="Consolas"/>
              </a:defRPr>
            </a:pPr>
            <a:r>
              <a:t>АНАЛИЗ ОШИБОК И 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654"/>
                </a:solidFill>
                <a:latin typeface="Quattrocento Sans"/>
              </a:defRPr>
            </a:pPr>
            <a:r>
              <a:t>Физические границы применимости и вектор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091672" cy="13716"/>
          </a:xfrm>
          <a:prstGeom prst="rect">
            <a:avLst/>
          </a:prstGeom>
          <a:solidFill>
            <a:srgbClr val="D0D7D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45B62"/>
                </a:solidFill>
                <a:latin typeface="Calibri"/>
              </a:defRPr>
            </a:pPr>
            <a:r>
              <a:t>КосмоХакатон 2026 · Команда «CodeDown» · Кейс: Двухэтапный мониторинг природных пожаров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A2654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Текущие физические краевые случаи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Подпологовые низовые пожары в дубравах: </a:t>
            </a:r>
            <a:r>
              <a:rPr sz="1050">
                <a:solidFill>
                  <a:srgbClr val="0E1319"/>
                </a:solidFill>
                <a:latin typeface="Calibri"/>
              </a:rPr>
              <a:t>В густых пойменных лесах плотный полог крон дубрав экранирует тепловое излучение низового огня, что затрудняет фиксацию в канале VIIRS I4. Для таких зон требуется привлечение многократных пролетов и радиолокации.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Переходные зоны степеней (2 vs 3): </a:t>
            </a:r>
            <a:r>
              <a:rPr sz="1050">
                <a:solidFill>
                  <a:srgbClr val="0E1319"/>
                </a:solidFill>
                <a:latin typeface="Calibri"/>
              </a:rPr>
              <a:t>На границах умеренного выгорания и сильного обугливания существует плавный спектральный градиент dNBR, где попиксельная разметка носит субъективный характер эксперта-дешифровщика.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Свежая распашка сразу после пала стерни: </a:t>
            </a:r>
            <a:r>
              <a:rPr sz="1050">
                <a:solidFill>
                  <a:srgbClr val="0E1319"/>
                </a:solidFill>
                <a:latin typeface="Calibri"/>
              </a:rPr>
              <a:t>Если после сжигания соломы поле немедленно вспахивают плугом, свежий влажный горизонт чернозема маскирует оптический след гари при интервале съемки более 5 дней.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4. Экстремальные дымовые шлейфы: </a:t>
            </a:r>
            <a:r>
              <a:rPr sz="1050">
                <a:solidFill>
                  <a:srgbClr val="0E1319"/>
                </a:solidFill>
                <a:latin typeface="Calibri"/>
              </a:rPr>
              <a:t>При штормовых пожарах плотный дым глушит видимый спектр; решается привлечением радарных пар Sentinel-1 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1A2654"/>
                </a:solidFill>
                <a:latin typeface="Quattrocento Sans"/>
              </a:defRPr>
            </a:pPr>
            <a:r>
              <a:t>Дорожная карта промышленного внедрения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1. Метеомоделирование динамики огня (ERA5-Land): </a:t>
            </a:r>
            <a:r>
              <a:rPr sz="1050">
                <a:solidFill>
                  <a:srgbClr val="0E1319"/>
                </a:solidFill>
                <a:latin typeface="Calibri"/>
              </a:rPr>
              <a:t>Расчет комплексного показателя пожарной опасности по Нестерову, учет влажности горючих материалов (1-10-100 часов), температуры точки росы и скорости ветра для построения векторов распространения пламени (модели Ротермела и Гюйгенса).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2. Анализ временных рядов Sentinel-2: </a:t>
            </a:r>
            <a:r>
              <a:rPr sz="1050">
                <a:solidFill>
                  <a:srgbClr val="0E1319"/>
                </a:solidFill>
                <a:latin typeface="Calibri"/>
              </a:rPr>
              <a:t>Построение кривых естественного лесовосстановления (Revegetation trajectories) для мониторинга регенерации травяного и древесного покрова через 1, 3 и 6 месяцев после пожара.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3. Бесшовная интеграция с ведомственными ГИС: </a:t>
            </a:r>
            <a:r>
              <a:rPr sz="1050">
                <a:solidFill>
                  <a:srgbClr val="0E1319"/>
                </a:solidFill>
                <a:latin typeface="Calibri"/>
              </a:rPr>
              <a:t>Прямой экспорт слоев по стандарту WMS/WFS в ЕГИС ЧС МЧС России, ИСДМ-Рослесхоз и ситуационные центры губернаторов субъектов РФ.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A2654"/>
                </a:solidFill>
                <a:latin typeface="Calibri"/>
              </a:rPr>
              <a:t>4. Мультимодальный бортовой ИИ: </a:t>
            </a:r>
            <a:r>
              <a:rPr sz="1050">
                <a:solidFill>
                  <a:srgbClr val="0E1319"/>
                </a:solidFill>
                <a:latin typeface="Calibri"/>
              </a:rPr>
              <a:t>Адаптация сверхбыстрого алгоритма для бортовых вычислителей перспективных микроспутников ДЗЗ (edge computing).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solidFill>
              <a:srgbClr val="0E1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167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EF3443"/>
                </a:solidFill>
                <a:latin typeface="Consolas"/>
              </a:defRPr>
            </a:pPr>
            <a:r>
              <a:t>КОСМОХАКАТОН 2026  ·  КОМАНДА «CodeDown»</a:t>
            </a:r>
          </a:p>
          <a:p>
            <a:pPr>
              <a:defRPr sz="2800" b="1">
                <a:solidFill>
                  <a:srgbClr val="FFFFFF"/>
                </a:solidFill>
                <a:latin typeface="Quattrocento Sans"/>
              </a:defRPr>
            </a:pPr>
            <a:r>
              <a:t>Итоги защиты и готовность к внедрению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118872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000" b="1">
                <a:solidFill>
                  <a:srgbClr val="DFA21A"/>
                </a:solidFill>
                <a:latin typeface="Consolas"/>
              </a:defRPr>
            </a:pPr>
            <a:r>
              <a:t>РЕЗУЛЬТАТ ЛИДЕРБОРДА</a:t>
            </a:r>
          </a:p>
          <a:p>
            <a:r>
              <a:rPr sz="2200" b="1">
                <a:solidFill>
                  <a:srgbClr val="FFFFFF"/>
                </a:solidFill>
                <a:latin typeface="Quattrocento Sans"/>
              </a:rPr>
              <a:t>0.5416 </a:t>
            </a:r>
            <a:r>
              <a:rPr sz="1100">
                <a:solidFill>
                  <a:srgbClr val="93A0B4"/>
                </a:solidFill>
                <a:latin typeface="Calibri"/>
              </a:rPr>
              <a:t>(+62.6% к baseline)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4256" y="1645920"/>
            <a:ext cx="3520440" cy="118872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000" b="1">
                <a:solidFill>
                  <a:srgbClr val="DFA21A"/>
                </a:solidFill>
                <a:latin typeface="Consolas"/>
              </a:defRPr>
            </a:pPr>
            <a:r>
              <a:t>СКОРОСТЬ ИНФЕРЕНСА</a:t>
            </a:r>
          </a:p>
          <a:p>
            <a:r>
              <a:rPr sz="2200" b="1">
                <a:solidFill>
                  <a:srgbClr val="FFFFFF"/>
                </a:solidFill>
                <a:latin typeface="Quattrocento Sans"/>
              </a:rPr>
              <a:t>14.2 с </a:t>
            </a:r>
            <a:r>
              <a:rPr sz="1100">
                <a:solidFill>
                  <a:srgbClr val="93A0B4"/>
                </a:solidFill>
                <a:latin typeface="Calibri"/>
              </a:rPr>
              <a:t>(норматив &lt;30 с, 8/8 баллов)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520440" cy="118872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EF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000" b="1">
                <a:solidFill>
                  <a:srgbClr val="DFA21A"/>
                </a:solidFill>
                <a:latin typeface="Consolas"/>
              </a:defRPr>
            </a:pPr>
            <a:r>
              <a:t>ГЕОСЕРВИС И API</a:t>
            </a:r>
          </a:p>
          <a:p>
            <a:r>
              <a:rPr sz="2200" b="1">
                <a:solidFill>
                  <a:srgbClr val="FFFFFF"/>
                </a:solidFill>
                <a:latin typeface="Quattrocento Sans"/>
              </a:rPr>
              <a:t>Готов </a:t>
            </a:r>
            <a:r>
              <a:rPr sz="1100">
                <a:solidFill>
                  <a:srgbClr val="93A0B4"/>
                </a:solidFill>
                <a:latin typeface="Calibri"/>
              </a:rPr>
              <a:t>(FastAPI + Leaflet + UTM га)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1091672" cy="2468880"/>
          </a:xfrm>
          <a:prstGeom prst="roundRect">
            <a:avLst/>
          </a:prstGeom>
          <a:solidFill>
            <a:srgbClr val="161D2C"/>
          </a:solidFill>
          <a:ln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100" b="1">
                <a:solidFill>
                  <a:srgbClr val="DFA21A"/>
                </a:solidFill>
                <a:latin typeface="Consolas"/>
              </a:defRPr>
            </a:pPr>
            <a:r>
              <a:t>СОСТАВ КОМАНДЫ «CodeDown» И ЗОНЫ ОТВЕТСТВЕННОСТИ: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ML &amp; Remote Sensing Engineer — физическое моделирование спектров, фильтр NBR_post, степная калибровка, двухуровневый AF.</a:t>
            </a:r>
            <a:br/>
            <a:r>
              <a:t>• Backend &amp; GIS Developer — сервис FastAPI, топологическая векторизация растров, расчет площадей UTM 37/38N, экспорт Shapefile.</a:t>
            </a:r>
            <a:br/>
            <a:r>
              <a:t>• Research &amp; Data Engineer — EDA, ликвидация критических багов baseline, схема GroupKFold без утечек, валидация и абляции.</a:t>
            </a:r>
          </a:p>
          <a:p>
            <a:pPr>
              <a:spcBef>
                <a:spcPts val="1000"/>
              </a:spcBef>
              <a:defRPr sz="1100" b="1">
                <a:solidFill>
                  <a:srgbClr val="DFA21A"/>
                </a:solidFill>
                <a:latin typeface="Consolas"/>
              </a:defRPr>
            </a:pPr>
            <a:r>
              <a:t>РЕПОЗИТОРИИ ПРОЕКТА:</a:t>
            </a:r>
          </a:p>
          <a:p>
            <a:pPr>
              <a:defRPr sz="1000">
                <a:solidFill>
                  <a:srgbClr val="8AB4F8"/>
                </a:solidFill>
                <a:latin typeface="Consolas"/>
              </a:defRPr>
            </a:pPr>
            <a:r>
              <a:t>• GitVerse (официальный): https://gitverse.ru/hackrus.experts/kosmo-krasnoiarsk_codedown_8</a:t>
            </a:r>
            <a:br/>
            <a:r>
              <a:t>• GitHub (зеркало): https://github.com/Ponymeshnik/fire-monitoring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Quattrocento Sans"/>
              </a:defRPr>
            </a:pPr>
            <a:r>
              <a:t>СПАСИБО ЗА ВНИМАНИЕ! ГОТОВЫ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Широкоэкранный</PresentationFormat>
  <Paragraphs>78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Quattrocento Sans</vt:lpstr>
      <vt:lpstr>Raleway</vt:lpstr>
      <vt:lpstr>Times New Roman</vt:lpstr>
      <vt:lpstr>Calibri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Kiruma Souchi</cp:lastModifiedBy>
  <cp:revision>2</cp:revision>
  <dcterms:modified xsi:type="dcterms:W3CDTF">2026-09-20T03:31:18Z</dcterms:modified>
</cp:coreProperties>
</file>